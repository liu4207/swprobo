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  <p:sldId id="266" r:id="rId14"/>
    <p:sldId id="268" r:id="rId15"/>
    <p:sldId id="269" r:id="rId16"/>
    <p:sldId id="273" r:id="rId17"/>
    <p:sldId id="274" r:id="rId18"/>
    <p:sldId id="275" r:id="rId19"/>
    <p:sldId id="285" r:id="rId20"/>
    <p:sldId id="276" r:id="rId21"/>
    <p:sldId id="286" r:id="rId22"/>
    <p:sldId id="292" r:id="rId23"/>
    <p:sldId id="283" r:id="rId24"/>
    <p:sldId id="278" r:id="rId25"/>
    <p:sldId id="279" r:id="rId26"/>
    <p:sldId id="280" r:id="rId27"/>
    <p:sldId id="284" r:id="rId28"/>
    <p:sldId id="300" r:id="rId29"/>
    <p:sldId id="281" r:id="rId30"/>
    <p:sldId id="293" r:id="rId31"/>
    <p:sldId id="295" r:id="rId32"/>
    <p:sldId id="287" r:id="rId33"/>
    <p:sldId id="288" r:id="rId34"/>
    <p:sldId id="290" r:id="rId35"/>
    <p:sldId id="291" r:id="rId36"/>
    <p:sldId id="296" r:id="rId37"/>
    <p:sldId id="297" r:id="rId38"/>
    <p:sldId id="298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AD</a:t>
            </a:r>
            <a:r>
              <a:rPr lang="zh-CN" altLang="en-US"/>
              <a:t>快速入门</a:t>
            </a:r>
            <a:r>
              <a:rPr lang="zh-CN" altLang="en-US"/>
              <a:t>与嘉立创</a:t>
            </a:r>
            <a:r>
              <a:rPr lang="zh-CN" altLang="en-US"/>
              <a:t>下单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有任何问题可以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QQ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私聊</a:t>
            </a:r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 </a:t>
            </a:r>
            <a:r>
              <a:rPr lang="zh-CN" altLang="en-US"/>
              <a:t>引言与</a:t>
            </a:r>
            <a:r>
              <a:rPr lang="zh-CN" altLang="en-US"/>
              <a:t>概述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AD</a:t>
            </a:r>
            <a:r>
              <a:rPr lang="zh-CN" altLang="en-US"/>
              <a:t>的工程建立、元件封装库导入、原理图转</a:t>
            </a:r>
            <a:r>
              <a:rPr lang="en-US" altLang="zh-CN"/>
              <a:t>PCB</a:t>
            </a:r>
            <a:r>
              <a:rPr lang="zh-CN" altLang="en-US"/>
              <a:t>等等流程</a:t>
            </a:r>
            <a:endParaRPr lang="zh-CN" altLang="en-US"/>
          </a:p>
          <a:p>
            <a:r>
              <a:rPr lang="zh-CN" altLang="en-US"/>
              <a:t>将</a:t>
            </a:r>
            <a:r>
              <a:rPr lang="en-US" altLang="zh-CN"/>
              <a:t>AD</a:t>
            </a:r>
            <a:r>
              <a:rPr lang="zh-CN" altLang="en-US"/>
              <a:t>文件导入嘉立创进行</a:t>
            </a:r>
            <a:r>
              <a:rPr lang="en-US" altLang="zh-CN"/>
              <a:t>SMT</a:t>
            </a:r>
            <a:r>
              <a:rPr lang="zh-CN" altLang="en-US"/>
              <a:t>下单、选型的流程和</a:t>
            </a:r>
            <a:r>
              <a:rPr lang="zh-CN" altLang="en-US"/>
              <a:t>注意事项</a:t>
            </a:r>
            <a:endParaRPr lang="zh-CN" altLang="en-US"/>
          </a:p>
          <a:p>
            <a:r>
              <a:rPr lang="zh-CN" altLang="en-US"/>
              <a:t>内容仅作参考学习，如有不足或更好的方案欢迎讨论</a:t>
            </a:r>
            <a:r>
              <a:rPr lang="zh-CN" altLang="en-US"/>
              <a:t>分享</a:t>
            </a:r>
            <a:endParaRPr lang="zh-CN" altLang="en-US"/>
          </a:p>
          <a:p>
            <a:r>
              <a:rPr lang="zh-CN" altLang="en-US"/>
              <a:t>建议大家一起实际</a:t>
            </a:r>
            <a:r>
              <a:rPr lang="zh-CN" altLang="en-US"/>
              <a:t>操作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2.1 AD</a:t>
            </a:r>
            <a:r>
              <a:rPr lang="zh-CN" altLang="en-US"/>
              <a:t>工程的建立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4880" cy="1109980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1.</a:t>
            </a:r>
            <a:r>
              <a:rPr lang="zh-CN" altLang="en-US" sz="2400"/>
              <a:t>文件</a:t>
            </a:r>
            <a:r>
              <a:rPr lang="en-US" altLang="zh-CN" sz="2400"/>
              <a:t>-</a:t>
            </a:r>
            <a:r>
              <a:rPr lang="zh-CN" altLang="en-US" sz="2400"/>
              <a:t>新建</a:t>
            </a:r>
            <a:r>
              <a:rPr lang="en-US" altLang="zh-CN" sz="2400"/>
              <a:t>-</a:t>
            </a:r>
            <a:r>
              <a:rPr lang="zh-CN" altLang="en-US" sz="2400"/>
              <a:t>项目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  <p:pic>
        <p:nvPicPr>
          <p:cNvPr id="5" name="图片 4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935605"/>
            <a:ext cx="5760000" cy="3241859"/>
          </a:xfrm>
          <a:prstGeom prst="rect">
            <a:avLst/>
          </a:prstGeom>
        </p:spPr>
      </p:pic>
      <p:pic>
        <p:nvPicPr>
          <p:cNvPr id="4" name="图片 3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715" y="1825625"/>
            <a:ext cx="5760000" cy="323455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88740" y="23888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98285" y="5060315"/>
            <a:ext cx="4756150" cy="1116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sym typeface="+mn-ea"/>
              </a:rPr>
              <a:t>2.第一行：创建的项目文件夹名称，第二行：该文件夹所在位置</a:t>
            </a:r>
            <a:endParaRPr lang="en-US" altLang="zh-CN" sz="240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2.1 AD</a:t>
            </a:r>
            <a:r>
              <a:rPr lang="zh-CN" altLang="en-US">
                <a:sym typeface="+mn-ea"/>
              </a:rPr>
              <a:t>工程的建立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4880" cy="1109345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3.</a:t>
            </a:r>
            <a:r>
              <a:rPr lang="zh-CN" altLang="en-US" sz="2400"/>
              <a:t>右键</a:t>
            </a:r>
            <a:r>
              <a:rPr lang="en-US" altLang="zh-CN" sz="2400"/>
              <a:t>PrjPcb</a:t>
            </a:r>
            <a:r>
              <a:rPr lang="zh-CN" altLang="en-US" sz="2400"/>
              <a:t>，添加新的原理图（</a:t>
            </a:r>
            <a:r>
              <a:rPr lang="en-US" altLang="zh-CN" sz="2400"/>
              <a:t>Schematic</a:t>
            </a:r>
            <a:r>
              <a:rPr lang="zh-CN" altLang="en-US" sz="2400"/>
              <a:t>）、</a:t>
            </a:r>
            <a:r>
              <a:rPr lang="en-US" altLang="zh-CN" sz="2400"/>
              <a:t>PCB</a:t>
            </a:r>
            <a:r>
              <a:rPr lang="zh-CN" altLang="en-US" sz="2400"/>
              <a:t>到工程</a:t>
            </a:r>
            <a:endParaRPr lang="zh-CN" altLang="en-US" sz="2400"/>
          </a:p>
          <a:p>
            <a:endParaRPr lang="zh-CN" altLang="en-US" sz="2400"/>
          </a:p>
        </p:txBody>
      </p:sp>
      <p:pic>
        <p:nvPicPr>
          <p:cNvPr id="4" name="图片 3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43495"/>
          </a:xfrm>
          <a:prstGeom prst="rect">
            <a:avLst/>
          </a:prstGeom>
        </p:spPr>
      </p:pic>
      <p:pic>
        <p:nvPicPr>
          <p:cNvPr id="5" name="图片 4" descr="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5605"/>
            <a:ext cx="5760000" cy="324196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98285" y="5069205"/>
            <a:ext cx="4756150" cy="1108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sym typeface="+mn-ea"/>
              </a:rPr>
              <a:t>4.点击全部保存，之后可以修改名称</a:t>
            </a:r>
            <a:endParaRPr lang="en-US" altLang="zh-CN" sz="2400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2.1 AD</a:t>
            </a:r>
            <a:r>
              <a:rPr lang="zh-CN" altLang="en-US">
                <a:sym typeface="+mn-ea"/>
              </a:rPr>
              <a:t>工程的建立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6150" cy="1111250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5.</a:t>
            </a:r>
            <a:r>
              <a:rPr lang="zh-CN" altLang="en-US" sz="2400"/>
              <a:t>把</a:t>
            </a:r>
            <a:r>
              <a:rPr lang="en-US" altLang="zh-CN" sz="2400"/>
              <a:t>SchLib</a:t>
            </a:r>
            <a:r>
              <a:rPr lang="zh-CN" altLang="en-US" sz="2400"/>
              <a:t>元件库、</a:t>
            </a:r>
            <a:r>
              <a:rPr lang="en-US" altLang="zh-CN" sz="2400"/>
              <a:t>PcbLib</a:t>
            </a:r>
            <a:r>
              <a:rPr lang="zh-CN" altLang="en-US" sz="2400"/>
              <a:t>封装库文件复制到项目文件夹里面</a:t>
            </a:r>
            <a:endParaRPr lang="zh-CN" altLang="en-US" sz="2400"/>
          </a:p>
        </p:txBody>
      </p:sp>
      <p:pic>
        <p:nvPicPr>
          <p:cNvPr id="4" name="图片 3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936875"/>
            <a:ext cx="5760000" cy="3240618"/>
          </a:xfrm>
          <a:prstGeom prst="rect">
            <a:avLst/>
          </a:prstGeom>
        </p:spPr>
      </p:pic>
      <p:pic>
        <p:nvPicPr>
          <p:cNvPr id="5" name="图片 4" descr="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715" y="1825625"/>
            <a:ext cx="5760000" cy="32418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98285" y="5067300"/>
            <a:ext cx="4755515" cy="1109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ym typeface="+mn-ea"/>
              </a:rPr>
              <a:t>6.</a:t>
            </a:r>
            <a:r>
              <a:rPr lang="zh-CN" altLang="en-US" sz="2400">
                <a:sym typeface="+mn-ea"/>
              </a:rPr>
              <a:t>右键</a:t>
            </a:r>
            <a:r>
              <a:rPr lang="en-US" altLang="zh-CN" sz="2400">
                <a:sym typeface="+mn-ea"/>
              </a:rPr>
              <a:t>PrjPcb</a:t>
            </a:r>
            <a:r>
              <a:rPr lang="zh-CN" altLang="en-US" sz="2400">
                <a:sym typeface="+mn-ea"/>
              </a:rPr>
              <a:t>，把它们添加到工程，工程建立完成</a:t>
            </a:r>
            <a:endParaRPr lang="zh-CN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2.2 AD</a:t>
            </a:r>
            <a:r>
              <a:rPr lang="zh-CN" altLang="en-US">
                <a:sym typeface="+mn-ea"/>
              </a:rPr>
              <a:t>封装库的</a:t>
            </a:r>
            <a:r>
              <a:rPr lang="zh-CN" altLang="en-US">
                <a:sym typeface="+mn-ea"/>
              </a:rPr>
              <a:t>修改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4880" cy="1116330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1.</a:t>
            </a:r>
            <a:r>
              <a:rPr lang="zh-CN" altLang="en-US" sz="2400"/>
              <a:t>双击封装库，然后点击左下角</a:t>
            </a:r>
            <a:r>
              <a:rPr lang="en-US" altLang="zh-CN" sz="2400"/>
              <a:t>PCB Library</a:t>
            </a:r>
            <a:r>
              <a:rPr lang="zh-CN" altLang="en-US" sz="2400"/>
              <a:t>进入编辑封装库界面</a:t>
            </a:r>
            <a:endParaRPr lang="zh-CN" altLang="en-US" sz="2400"/>
          </a:p>
        </p:txBody>
      </p:sp>
      <p:pic>
        <p:nvPicPr>
          <p:cNvPr id="4" name="图片 3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942590"/>
            <a:ext cx="5760000" cy="3234513"/>
          </a:xfrm>
          <a:prstGeom prst="rect">
            <a:avLst/>
          </a:prstGeom>
        </p:spPr>
      </p:pic>
      <p:pic>
        <p:nvPicPr>
          <p:cNvPr id="5" name="图片 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715" y="1825625"/>
            <a:ext cx="5760000" cy="3240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98285" y="5065395"/>
            <a:ext cx="4756150" cy="1112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ym typeface="+mn-ea"/>
              </a:rPr>
              <a:t>2.</a:t>
            </a:r>
            <a:r>
              <a:rPr lang="zh-CN" altLang="en-US" sz="2400">
                <a:sym typeface="+mn-ea"/>
              </a:rPr>
              <a:t>在图示窗口可以看见该封装库里面的所有封装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2.2 AD</a:t>
            </a:r>
            <a:r>
              <a:rPr lang="zh-CN" altLang="en-US">
                <a:sym typeface="+mn-ea"/>
              </a:rPr>
              <a:t>封装库的修改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4880" cy="1108710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3.</a:t>
            </a:r>
            <a:r>
              <a:rPr lang="zh-CN" altLang="en-US" sz="2400"/>
              <a:t>点击右下角</a:t>
            </a:r>
            <a:r>
              <a:rPr lang="en-US" altLang="zh-CN" sz="2400"/>
              <a:t>Panels</a:t>
            </a:r>
            <a:r>
              <a:rPr lang="zh-CN" altLang="en-US" sz="2400"/>
              <a:t>，再点击</a:t>
            </a:r>
            <a:r>
              <a:rPr lang="en-US" altLang="zh-CN" sz="2400"/>
              <a:t>Properties</a:t>
            </a:r>
            <a:r>
              <a:rPr lang="zh-CN" altLang="en-US" sz="2400"/>
              <a:t>，调出属性栏</a:t>
            </a:r>
            <a:endParaRPr lang="zh-CN" altLang="en-US" sz="2400"/>
          </a:p>
        </p:txBody>
      </p:sp>
      <p:pic>
        <p:nvPicPr>
          <p:cNvPr id="5" name="图片 4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41752"/>
          </a:xfrm>
          <a:prstGeom prst="rect">
            <a:avLst/>
          </a:prstGeom>
        </p:spPr>
      </p:pic>
      <p:pic>
        <p:nvPicPr>
          <p:cNvPr id="6" name="图片 5" descr="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4970"/>
            <a:ext cx="5760000" cy="324251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598285" y="5067300"/>
            <a:ext cx="4754880" cy="1109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ym typeface="+mn-ea"/>
              </a:rPr>
              <a:t>4.</a:t>
            </a:r>
            <a:r>
              <a:rPr lang="zh-CN" altLang="en-US" sz="2400">
                <a:sym typeface="+mn-ea"/>
              </a:rPr>
              <a:t>点击图标使其固定</a:t>
            </a:r>
            <a:endParaRPr lang="zh-CN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2.2 AD</a:t>
            </a:r>
            <a:r>
              <a:rPr lang="zh-CN" altLang="en-US">
                <a:sym typeface="+mn-ea"/>
              </a:rPr>
              <a:t>封装库的修改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4880" cy="1111885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5.</a:t>
            </a:r>
            <a:r>
              <a:rPr lang="zh-CN" altLang="en-US" sz="2400"/>
              <a:t>点击</a:t>
            </a:r>
            <a:r>
              <a:rPr lang="en-US" altLang="zh-CN" sz="2400"/>
              <a:t>Add</a:t>
            </a:r>
            <a:r>
              <a:rPr lang="zh-CN" altLang="en-US" sz="2400"/>
              <a:t>添加封装，再点</a:t>
            </a:r>
            <a:r>
              <a:rPr lang="en-US" altLang="zh-CN" sz="2400"/>
              <a:t>Edit</a:t>
            </a:r>
            <a:r>
              <a:rPr lang="zh-CN" altLang="en-US" sz="2400"/>
              <a:t>进行改名</a:t>
            </a:r>
            <a:endParaRPr lang="zh-CN" altLang="en-US" sz="2400"/>
          </a:p>
          <a:p>
            <a:pPr marL="0" indent="0">
              <a:buNone/>
            </a:pPr>
            <a:endParaRPr lang="zh-CN" altLang="en-US" sz="2400"/>
          </a:p>
        </p:txBody>
      </p:sp>
      <p:pic>
        <p:nvPicPr>
          <p:cNvPr id="5" name="图片 4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937510"/>
            <a:ext cx="5760000" cy="3240000"/>
          </a:xfrm>
          <a:prstGeom prst="rect">
            <a:avLst/>
          </a:prstGeom>
        </p:spPr>
      </p:pic>
      <p:pic>
        <p:nvPicPr>
          <p:cNvPr id="4" name="图片 3" descr="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715" y="1825625"/>
            <a:ext cx="5760000" cy="32355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98285" y="5060950"/>
            <a:ext cx="4756150" cy="1115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ym typeface="+mn-ea"/>
              </a:rPr>
              <a:t>6.</a:t>
            </a:r>
            <a:r>
              <a:rPr lang="zh-CN" altLang="en-US" sz="2400">
                <a:sym typeface="+mn-ea"/>
              </a:rPr>
              <a:t>上面的框包含放置焊盘、线段等，下面一栏为图层，一般只需设计顶层线路和丝印、底层线路和丝印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2.2 AD</a:t>
            </a:r>
            <a:r>
              <a:rPr lang="zh-CN" altLang="en-US">
                <a:sym typeface="+mn-ea"/>
              </a:rPr>
              <a:t>封装库的修改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6150" cy="4351655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7.</a:t>
            </a:r>
            <a:r>
              <a:rPr lang="zh-CN" altLang="en-US" sz="2400"/>
              <a:t>放置焊盘，放置焊盘或线条时先检查图层，在右侧修改属性，切记修改焊盘编号，否则无法与原理图对应</a:t>
            </a:r>
            <a:endParaRPr lang="zh-CN" altLang="en-US" sz="2400"/>
          </a:p>
          <a:p>
            <a:pPr marL="0" indent="0">
              <a:buNone/>
            </a:pPr>
            <a:r>
              <a:rPr lang="en-US" altLang="zh-CN" sz="2400">
                <a:sym typeface="+mn-ea"/>
              </a:rPr>
              <a:t>8.</a:t>
            </a:r>
            <a:r>
              <a:rPr lang="zh-CN" altLang="en-US" sz="2400">
                <a:sym typeface="+mn-ea"/>
              </a:rPr>
              <a:t>左键为选择，右键为拖动，按住滚轮移动鼠标为缩放，</a:t>
            </a:r>
            <a:r>
              <a:rPr lang="en-US" altLang="zh-CN" sz="2400">
                <a:sym typeface="+mn-ea"/>
              </a:rPr>
              <a:t>shift</a:t>
            </a:r>
            <a:r>
              <a:rPr lang="zh-CN" altLang="en-US" sz="2400">
                <a:sym typeface="+mn-ea"/>
              </a:rPr>
              <a:t>或</a:t>
            </a:r>
            <a:r>
              <a:rPr lang="en-US" altLang="zh-CN" sz="2400">
                <a:sym typeface="+mn-ea"/>
              </a:rPr>
              <a:t>ctrl</a:t>
            </a:r>
            <a:r>
              <a:rPr lang="zh-CN" altLang="en-US" sz="2400">
                <a:sym typeface="+mn-ea"/>
              </a:rPr>
              <a:t>加左键为连选，</a:t>
            </a:r>
            <a:r>
              <a:rPr lang="en-US" altLang="zh-CN" sz="2400">
                <a:sym typeface="+mn-ea"/>
              </a:rPr>
              <a:t>shift</a:t>
            </a:r>
            <a:r>
              <a:rPr lang="zh-CN" altLang="en-US" sz="2400">
                <a:sym typeface="+mn-ea"/>
              </a:rPr>
              <a:t>加右键为拖动，</a:t>
            </a:r>
            <a:r>
              <a:rPr lang="en-US" altLang="zh-CN" sz="2400">
                <a:sym typeface="+mn-ea"/>
              </a:rPr>
              <a:t>ctrl</a:t>
            </a:r>
            <a:r>
              <a:rPr lang="zh-CN" altLang="en-US" sz="2400">
                <a:sym typeface="+mn-ea"/>
              </a:rPr>
              <a:t>加右键为缩放</a:t>
            </a:r>
            <a:endParaRPr lang="zh-CN" altLang="en-US" sz="2400">
              <a:sym typeface="+mn-ea"/>
            </a:endParaRPr>
          </a:p>
          <a:p>
            <a:pPr marL="0" indent="0">
              <a:buNone/>
            </a:pPr>
            <a:endParaRPr lang="zh-CN" altLang="en-US" sz="2400">
              <a:sym typeface="+mn-ea"/>
            </a:endParaRPr>
          </a:p>
        </p:txBody>
      </p:sp>
      <p:pic>
        <p:nvPicPr>
          <p:cNvPr id="5" name="图片 4" descr="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691005"/>
            <a:ext cx="5760000" cy="32402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934335"/>
            <a:ext cx="5760000" cy="324316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2.3 </a:t>
            </a:r>
            <a:r>
              <a:rPr lang="zh-CN" altLang="en-US">
                <a:sym typeface="+mn-ea"/>
              </a:rPr>
              <a:t>立创</a:t>
            </a:r>
            <a:r>
              <a:rPr lang="en-US" altLang="zh-CN">
                <a:sym typeface="+mn-ea"/>
              </a:rPr>
              <a:t>EDA</a:t>
            </a:r>
            <a:r>
              <a:rPr lang="zh-CN" altLang="en-US">
                <a:sym typeface="+mn-ea"/>
              </a:rPr>
              <a:t>封装导入</a:t>
            </a:r>
            <a:r>
              <a:rPr lang="en-US" altLang="zh-CN">
                <a:sym typeface="+mn-ea"/>
              </a:rPr>
              <a:t>AD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4880" cy="1108710"/>
          </a:xfrm>
        </p:spPr>
        <p:txBody>
          <a:bodyPr/>
          <a:p>
            <a:pPr marL="0" indent="0">
              <a:buNone/>
            </a:pPr>
            <a:r>
              <a:rPr lang="en-US" sz="2400"/>
              <a:t>1.</a:t>
            </a:r>
            <a:r>
              <a:rPr lang="zh-CN" altLang="en-US" sz="2400"/>
              <a:t>打开立创</a:t>
            </a:r>
            <a:r>
              <a:rPr lang="en-US" altLang="zh-CN" sz="2400"/>
              <a:t>EDA</a:t>
            </a:r>
            <a:r>
              <a:rPr lang="zh-CN" altLang="en-US" sz="2400"/>
              <a:t>任意一个工程，放置所需的元件，单击封装</a:t>
            </a:r>
            <a:endParaRPr lang="zh-CN" altLang="en-US" sz="2400"/>
          </a:p>
        </p:txBody>
      </p:sp>
      <p:pic>
        <p:nvPicPr>
          <p:cNvPr id="4" name="图片 3" descr="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715" y="1825625"/>
            <a:ext cx="5760000" cy="324204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98285" y="5067935"/>
            <a:ext cx="4756150" cy="1109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ym typeface="+mn-ea"/>
              </a:rPr>
              <a:t>2.</a:t>
            </a:r>
            <a:r>
              <a:rPr lang="zh-CN" altLang="en-US" sz="2400">
                <a:sym typeface="+mn-ea"/>
              </a:rPr>
              <a:t>点击编辑封装</a:t>
            </a:r>
            <a:endParaRPr lang="zh-CN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2.3 </a:t>
            </a:r>
            <a:r>
              <a:rPr lang="zh-CN" altLang="en-US">
                <a:sym typeface="+mn-ea"/>
              </a:rPr>
              <a:t>立创</a:t>
            </a:r>
            <a:r>
              <a:rPr lang="en-US" altLang="zh-CN">
                <a:sym typeface="+mn-ea"/>
              </a:rPr>
              <a:t>EDA</a:t>
            </a:r>
            <a:r>
              <a:rPr lang="zh-CN" altLang="en-US">
                <a:sym typeface="+mn-ea"/>
              </a:rPr>
              <a:t>封装导入</a:t>
            </a:r>
            <a:r>
              <a:rPr lang="en-US" altLang="zh-CN">
                <a:sym typeface="+mn-ea"/>
              </a:rPr>
              <a:t>AD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6150" cy="1111885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3.</a:t>
            </a:r>
            <a:r>
              <a:rPr lang="zh-CN" altLang="en-US" sz="2400"/>
              <a:t>文件</a:t>
            </a:r>
            <a:r>
              <a:rPr lang="en-US" altLang="zh-CN" sz="2400"/>
              <a:t>-</a:t>
            </a:r>
            <a:r>
              <a:rPr lang="zh-CN" altLang="en-US" sz="2400"/>
              <a:t>导出</a:t>
            </a:r>
            <a:r>
              <a:rPr lang="en-US" altLang="zh-CN" sz="2400"/>
              <a:t>-AD</a:t>
            </a:r>
            <a:endParaRPr lang="en-US" altLang="zh-CN" sz="2400"/>
          </a:p>
        </p:txBody>
      </p:sp>
      <p:sp>
        <p:nvSpPr>
          <p:cNvPr id="5" name="文本框 4"/>
          <p:cNvSpPr txBox="1"/>
          <p:nvPr/>
        </p:nvSpPr>
        <p:spPr>
          <a:xfrm>
            <a:off x="6598285" y="5060315"/>
            <a:ext cx="4756150" cy="1116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ym typeface="+mn-ea"/>
              </a:rPr>
              <a:t>4.</a:t>
            </a:r>
            <a:r>
              <a:rPr lang="zh-CN" altLang="en-US" sz="2400">
                <a:sym typeface="+mn-ea"/>
              </a:rPr>
              <a:t>用</a:t>
            </a:r>
            <a:r>
              <a:rPr lang="en-US" altLang="zh-CN" sz="2400">
                <a:sym typeface="+mn-ea"/>
              </a:rPr>
              <a:t>AD</a:t>
            </a:r>
            <a:r>
              <a:rPr lang="zh-CN" altLang="en-US" sz="2400">
                <a:sym typeface="+mn-ea"/>
              </a:rPr>
              <a:t>打开，单击元件中心，将其坐标设置为</a:t>
            </a:r>
            <a:r>
              <a:rPr lang="en-US" altLang="zh-CN" sz="2400">
                <a:sym typeface="+mn-ea"/>
              </a:rPr>
              <a:t>0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0</a:t>
            </a:r>
            <a:r>
              <a:rPr lang="zh-CN" altLang="en-US" sz="2400">
                <a:sym typeface="+mn-ea"/>
              </a:rPr>
              <a:t>，然后复制元件，参考点（光标）选择原点，可以通过左上角坐标来确定光标在原点</a:t>
            </a:r>
            <a:endParaRPr lang="zh-CN" altLang="en-US" sz="2400">
              <a:sym typeface="+mn-ea"/>
            </a:endParaRPr>
          </a:p>
        </p:txBody>
      </p:sp>
      <p:pic>
        <p:nvPicPr>
          <p:cNvPr id="4" name="图片 3" descr="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34783"/>
          </a:xfrm>
          <a:prstGeom prst="rect">
            <a:avLst/>
          </a:prstGeom>
        </p:spPr>
      </p:pic>
      <p:pic>
        <p:nvPicPr>
          <p:cNvPr id="6" name="图片 5" descr="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6875"/>
            <a:ext cx="5760000" cy="32404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2.3 </a:t>
            </a:r>
            <a:r>
              <a:rPr lang="zh-CN" altLang="en-US">
                <a:sym typeface="+mn-ea"/>
              </a:rPr>
              <a:t>立创</a:t>
            </a:r>
            <a:r>
              <a:rPr lang="en-US" altLang="zh-CN">
                <a:sym typeface="+mn-ea"/>
              </a:rPr>
              <a:t>EDA</a:t>
            </a:r>
            <a:r>
              <a:rPr lang="zh-CN" altLang="en-US">
                <a:sym typeface="+mn-ea"/>
              </a:rPr>
              <a:t>封装导入</a:t>
            </a:r>
            <a:r>
              <a:rPr lang="en-US" altLang="zh-CN">
                <a:sym typeface="+mn-ea"/>
              </a:rPr>
              <a:t>AD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6150" cy="4351655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5.</a:t>
            </a:r>
            <a:r>
              <a:rPr lang="zh-CN" altLang="en-US" sz="2400"/>
              <a:t>复制在新建立的封装的原点上，然后选中所有焊盘，在图示窗口中选择</a:t>
            </a:r>
            <a:r>
              <a:rPr lang="en-US" altLang="zh-CN" sz="2400"/>
              <a:t>Rule</a:t>
            </a:r>
            <a:endParaRPr lang="zh-CN" altLang="en-US" sz="2400">
              <a:sym typeface="+mn-ea"/>
            </a:endParaRPr>
          </a:p>
        </p:txBody>
      </p:sp>
      <p:pic>
        <p:nvPicPr>
          <p:cNvPr id="4" name="图片 3" descr="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377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2.4 AD</a:t>
            </a:r>
            <a:r>
              <a:rPr lang="zh-CN" altLang="en-US">
                <a:sym typeface="+mn-ea"/>
              </a:rPr>
              <a:t>元件库的修改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6150" cy="1108710"/>
          </a:xfrm>
        </p:spPr>
        <p:txBody>
          <a:bodyPr>
            <a:normAutofit lnSpcReduction="20000"/>
          </a:bodyPr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/>
              <a:t>1.双击元件库，</a:t>
            </a:r>
            <a:r>
              <a:rPr lang="en-US" altLang="zh-CN" sz="2400">
                <a:sym typeface="+mn-ea"/>
              </a:rPr>
              <a:t>然后点击左下角SCH Library进入编辑元件库界面，新建一个元件，重命名</a:t>
            </a:r>
            <a:endParaRPr lang="en-US" altLang="zh-CN" sz="2400">
              <a:sym typeface="+mn-ea"/>
            </a:endParaRPr>
          </a:p>
        </p:txBody>
      </p:sp>
      <p:pic>
        <p:nvPicPr>
          <p:cNvPr id="5" name="图片 4" descr="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934335"/>
            <a:ext cx="5760000" cy="32430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98285" y="5063490"/>
            <a:ext cx="4756150" cy="1113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ym typeface="+mn-ea"/>
              </a:rPr>
              <a:t>2.</a:t>
            </a:r>
            <a:r>
              <a:rPr lang="zh-CN" altLang="en-US" sz="2400">
                <a:sym typeface="+mn-ea"/>
              </a:rPr>
              <a:t>主要使用图示三个功能，即引脚、线条和文字，切记修改引脚编号，确保与封装库中的封装相对应</a:t>
            </a:r>
            <a:endParaRPr lang="zh-CN" altLang="en-US" sz="2400"/>
          </a:p>
        </p:txBody>
      </p:sp>
      <p:pic>
        <p:nvPicPr>
          <p:cNvPr id="4" name="图片 3" descr="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715" y="1825625"/>
            <a:ext cx="5760000" cy="3237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2.5 AD</a:t>
            </a:r>
            <a:r>
              <a:rPr lang="zh-CN" altLang="en-US"/>
              <a:t>原理图的</a:t>
            </a:r>
            <a:r>
              <a:rPr lang="zh-CN" altLang="en-US"/>
              <a:t>绘制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6150" cy="1112520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1.</a:t>
            </a:r>
            <a:r>
              <a:rPr lang="zh-CN" altLang="en-US" sz="2400"/>
              <a:t>双击打开原理图，右上角选择刚才的</a:t>
            </a:r>
            <a:r>
              <a:rPr lang="zh-CN" altLang="en-US" sz="2400"/>
              <a:t>元件库</a:t>
            </a:r>
            <a:endParaRPr lang="zh-CN" altLang="en-US" sz="2400"/>
          </a:p>
          <a:p>
            <a:pPr marL="0" indent="0">
              <a:buNone/>
            </a:pPr>
            <a:endParaRPr lang="zh-CN" altLang="en-US" sz="2400"/>
          </a:p>
        </p:txBody>
      </p:sp>
      <p:pic>
        <p:nvPicPr>
          <p:cNvPr id="4" name="图片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43575"/>
          </a:xfrm>
          <a:prstGeom prst="rect">
            <a:avLst/>
          </a:prstGeom>
        </p:spPr>
      </p:pic>
      <p:pic>
        <p:nvPicPr>
          <p:cNvPr id="6" name="图片 5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8145"/>
            <a:ext cx="5760000" cy="32388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598285" y="5069205"/>
            <a:ext cx="4755515" cy="1107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zh-CN" sz="2400">
                <a:sym typeface="+mn-ea"/>
              </a:rPr>
              <a:t>2.</a:t>
            </a:r>
            <a:r>
              <a:rPr lang="zh-CN" altLang="en-US" sz="2400">
                <a:sym typeface="+mn-ea"/>
              </a:rPr>
              <a:t>视图</a:t>
            </a:r>
            <a:r>
              <a:rPr lang="en-US" altLang="zh-CN" sz="2400">
                <a:sym typeface="+mn-ea"/>
              </a:rPr>
              <a:t>-</a:t>
            </a:r>
            <a:r>
              <a:rPr lang="zh-CN" altLang="en-US" sz="2400">
                <a:sym typeface="+mn-ea"/>
              </a:rPr>
              <a:t>栅格</a:t>
            </a:r>
            <a:r>
              <a:rPr lang="en-US" altLang="zh-CN" sz="2400">
                <a:sym typeface="+mn-ea"/>
              </a:rPr>
              <a:t>-</a:t>
            </a:r>
            <a:r>
              <a:rPr lang="zh-CN" altLang="en-US" sz="2400">
                <a:sym typeface="+mn-ea"/>
              </a:rPr>
              <a:t>切换单位，可以切换</a:t>
            </a:r>
            <a:r>
              <a:rPr lang="en-US" altLang="zh-CN" sz="2400">
                <a:sym typeface="+mn-ea"/>
              </a:rPr>
              <a:t>mm</a:t>
            </a:r>
            <a:r>
              <a:rPr lang="zh-CN" altLang="en-US" sz="2400">
                <a:sym typeface="+mn-ea"/>
              </a:rPr>
              <a:t>和</a:t>
            </a:r>
            <a:r>
              <a:rPr lang="en-US" altLang="zh-CN" sz="2400">
                <a:sym typeface="+mn-ea"/>
              </a:rPr>
              <a:t>mil</a:t>
            </a:r>
            <a:r>
              <a:rPr lang="zh-CN" altLang="en-US" sz="2400">
                <a:sym typeface="+mn-ea"/>
              </a:rPr>
              <a:t>，再选择设置捕捉栅格，该元件库建议使用</a:t>
            </a:r>
            <a:r>
              <a:rPr lang="en-US" altLang="zh-CN" sz="2400">
                <a:sym typeface="+mn-ea"/>
              </a:rPr>
              <a:t>0.5mm</a:t>
            </a:r>
            <a:r>
              <a:rPr lang="zh-CN" altLang="en-US" sz="2400">
                <a:sym typeface="+mn-ea"/>
              </a:rPr>
              <a:t>栅格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2.5 AD</a:t>
            </a:r>
            <a:r>
              <a:rPr lang="zh-CN" altLang="en-US">
                <a:sym typeface="+mn-ea"/>
              </a:rPr>
              <a:t>原理图的绘制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6150" cy="1112520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3.</a:t>
            </a:r>
            <a:r>
              <a:rPr lang="zh-CN" altLang="en-US" sz="2400"/>
              <a:t>此处可以修改图纸</a:t>
            </a:r>
            <a:r>
              <a:rPr lang="zh-CN" altLang="en-US" sz="2400"/>
              <a:t>尺寸</a:t>
            </a:r>
            <a:endParaRPr lang="zh-CN" altLang="en-US" sz="2400"/>
          </a:p>
          <a:p>
            <a:pPr marL="0" indent="0">
              <a:buNone/>
            </a:pPr>
            <a:endParaRPr lang="zh-CN" altLang="en-US" sz="2400"/>
          </a:p>
        </p:txBody>
      </p:sp>
      <p:pic>
        <p:nvPicPr>
          <p:cNvPr id="4" name="图片 3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38765"/>
          </a:xfrm>
          <a:prstGeom prst="rect">
            <a:avLst/>
          </a:prstGeom>
        </p:spPr>
      </p:pic>
      <p:pic>
        <p:nvPicPr>
          <p:cNvPr id="5" name="图片 4" descr="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7510"/>
            <a:ext cx="5760000" cy="3240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98285" y="5064125"/>
            <a:ext cx="4755515" cy="11131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zh-CN" sz="2400">
                <a:sym typeface="+mn-ea"/>
              </a:rPr>
              <a:t>4.</a:t>
            </a:r>
            <a:r>
              <a:rPr lang="zh-CN" altLang="en-US" sz="2400">
                <a:sym typeface="+mn-ea"/>
              </a:rPr>
              <a:t>点击放置元件，在刚才的元件库中选择元件，双击后放置在图纸上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2.5 AD</a:t>
            </a:r>
            <a:r>
              <a:rPr lang="zh-CN" altLang="en-US">
                <a:sym typeface="+mn-ea"/>
              </a:rPr>
              <a:t>原理图的绘制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4880" cy="111252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zh-CN" sz="2400"/>
              <a:t>5.</a:t>
            </a:r>
            <a:r>
              <a:rPr lang="zh-CN" altLang="en-US" sz="2400"/>
              <a:t>修改名称和位号，</a:t>
            </a:r>
            <a:r>
              <a:rPr lang="zh-CN" altLang="en-US" sz="2400">
                <a:sym typeface="+mn-ea"/>
              </a:rPr>
              <a:t>位号名与元件属性一致即可</a:t>
            </a:r>
            <a:r>
              <a:rPr lang="zh-CN" altLang="en-US" sz="2400"/>
              <a:t>，相同位号名的</a:t>
            </a:r>
            <a:r>
              <a:rPr lang="zh-CN" altLang="en-US" sz="2400"/>
              <a:t>元件，位号数字不能一样，不然会有错误图标</a:t>
            </a:r>
            <a:endParaRPr lang="zh-CN" altLang="en-US" sz="2400"/>
          </a:p>
        </p:txBody>
      </p:sp>
      <p:pic>
        <p:nvPicPr>
          <p:cNvPr id="4" name="图片 3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35617"/>
          </a:xfrm>
          <a:prstGeom prst="rect">
            <a:avLst/>
          </a:prstGeom>
        </p:spPr>
      </p:pic>
      <p:pic>
        <p:nvPicPr>
          <p:cNvPr id="5" name="图片 4" descr="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8145"/>
            <a:ext cx="5760000" cy="323904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598285" y="5060950"/>
            <a:ext cx="4755515" cy="1116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zh-CN" sz="2400">
                <a:sym typeface="+mn-ea"/>
              </a:rPr>
              <a:t>6.</a:t>
            </a:r>
            <a:r>
              <a:rPr lang="zh-CN" altLang="en-US" sz="2400">
                <a:sym typeface="+mn-ea"/>
              </a:rPr>
              <a:t>在图示窗口添加封装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2.5 AD</a:t>
            </a:r>
            <a:r>
              <a:rPr lang="zh-CN" altLang="en-US">
                <a:sym typeface="+mn-ea"/>
              </a:rPr>
              <a:t>原理图的绘制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5515" cy="1112520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7.</a:t>
            </a:r>
            <a:r>
              <a:rPr lang="zh-CN" altLang="en-US" sz="2400"/>
              <a:t>选择刚刚添加的封装库，在库里面找到对应的元件</a:t>
            </a:r>
            <a:endParaRPr lang="zh-CN" altLang="en-US" sz="2400"/>
          </a:p>
        </p:txBody>
      </p:sp>
      <p:pic>
        <p:nvPicPr>
          <p:cNvPr id="4" name="图片 3" descr="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40307"/>
          </a:xfrm>
          <a:prstGeom prst="rect">
            <a:avLst/>
          </a:prstGeom>
        </p:spPr>
      </p:pic>
      <p:pic>
        <p:nvPicPr>
          <p:cNvPr id="5" name="图片 4" descr="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8145"/>
            <a:ext cx="5760000" cy="32394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98285" y="5066030"/>
            <a:ext cx="4755515" cy="11106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zh-CN" sz="2400">
                <a:sym typeface="+mn-ea"/>
              </a:rPr>
              <a:t>8.</a:t>
            </a:r>
            <a:r>
              <a:rPr lang="zh-CN" altLang="en-US" sz="2400">
                <a:sym typeface="+mn-ea"/>
              </a:rPr>
              <a:t>点击</a:t>
            </a:r>
            <a:r>
              <a:rPr lang="en-US" altLang="zh-CN" sz="2400">
                <a:sym typeface="+mn-ea"/>
              </a:rPr>
              <a:t>show</a:t>
            </a:r>
            <a:r>
              <a:rPr lang="zh-CN" altLang="en-US" sz="2400">
                <a:sym typeface="+mn-ea"/>
              </a:rPr>
              <a:t>，出现封装则添加成功，后续绘图时如果使用同样封装的元件，直接复制后修改位号即可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2.5 AD</a:t>
            </a:r>
            <a:r>
              <a:rPr lang="zh-CN" altLang="en-US">
                <a:sym typeface="+mn-ea"/>
              </a:rPr>
              <a:t>原理图的绘制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195060" cy="4351655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9.</a:t>
            </a:r>
            <a:r>
              <a:rPr lang="zh-CN" altLang="en-US" sz="2400"/>
              <a:t>如果出现红色波浪线报错，可能是位号重复，影响</a:t>
            </a:r>
            <a:r>
              <a:rPr lang="en-US" altLang="zh-CN" sz="2400"/>
              <a:t>PCB</a:t>
            </a:r>
            <a:r>
              <a:rPr lang="zh-CN" altLang="en-US" sz="2400"/>
              <a:t>绘制；也有可能是改引脚所在网络没有连接其他引脚，不影响</a:t>
            </a:r>
            <a:r>
              <a:rPr lang="en-US" altLang="zh-CN" sz="2400"/>
              <a:t>PCB</a:t>
            </a:r>
            <a:r>
              <a:rPr lang="zh-CN" altLang="en-US" sz="2400"/>
              <a:t>绘制</a:t>
            </a:r>
            <a:endParaRPr lang="zh-CN" altLang="en-US" sz="2400"/>
          </a:p>
          <a:p>
            <a:endParaRPr lang="en-US" altLang="zh-CN" sz="2400"/>
          </a:p>
        </p:txBody>
      </p:sp>
      <p:pic>
        <p:nvPicPr>
          <p:cNvPr id="4" name="图片 3" descr="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895" y="1825625"/>
            <a:ext cx="4320000" cy="242906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2.5 AD</a:t>
            </a:r>
            <a:r>
              <a:rPr lang="zh-CN" altLang="en-US">
                <a:sym typeface="+mn-ea"/>
              </a:rPr>
              <a:t>原理图的绘制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6150" cy="111188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sz="2400"/>
              <a:t>10.</a:t>
            </a:r>
            <a:r>
              <a:rPr lang="zh-CN" altLang="en-US" sz="2400"/>
              <a:t>完成原理图绘制后，重新标注位号</a:t>
            </a:r>
            <a:endParaRPr lang="zh-CN" altLang="en-US" sz="2400"/>
          </a:p>
        </p:txBody>
      </p:sp>
      <p:pic>
        <p:nvPicPr>
          <p:cNvPr id="6" name="图片 5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42871"/>
          </a:xfrm>
          <a:prstGeom prst="rect">
            <a:avLst/>
          </a:prstGeom>
        </p:spPr>
      </p:pic>
      <p:pic>
        <p:nvPicPr>
          <p:cNvPr id="7" name="图片 6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6875"/>
            <a:ext cx="5760000" cy="32402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98920" y="5068570"/>
            <a:ext cx="4755515" cy="11106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zh-CN" altLang="en-US" sz="2400">
                <a:sym typeface="+mn-ea"/>
              </a:rPr>
              <a:t>点击工具</a:t>
            </a:r>
            <a:r>
              <a:rPr lang="en-US" altLang="zh-CN" sz="2400">
                <a:sym typeface="+mn-ea"/>
              </a:rPr>
              <a:t>-</a:t>
            </a:r>
            <a:r>
              <a:rPr lang="zh-CN" altLang="en-US" sz="2400">
                <a:sym typeface="+mn-ea"/>
              </a:rPr>
              <a:t>标注</a:t>
            </a:r>
            <a:r>
              <a:rPr lang="en-US" altLang="zh-CN" sz="2400">
                <a:sym typeface="+mn-ea"/>
              </a:rPr>
              <a:t>-</a:t>
            </a:r>
            <a:r>
              <a:rPr lang="zh-CN" altLang="en-US" sz="2400">
                <a:sym typeface="+mn-ea"/>
              </a:rPr>
              <a:t>原理图标注，依次点击</a:t>
            </a:r>
            <a:r>
              <a:rPr lang="en-US" altLang="zh-CN" sz="2400">
                <a:sym typeface="+mn-ea"/>
              </a:rPr>
              <a:t>Reset all-</a:t>
            </a:r>
            <a:r>
              <a:rPr lang="zh-CN" altLang="en-US" sz="2400">
                <a:sym typeface="+mn-ea"/>
              </a:rPr>
              <a:t>更新更改列表</a:t>
            </a:r>
            <a:r>
              <a:rPr lang="en-US" altLang="zh-CN" sz="2400">
                <a:sym typeface="+mn-ea"/>
              </a:rPr>
              <a:t>-</a:t>
            </a:r>
            <a:r>
              <a:rPr lang="zh-CN" altLang="en-US" sz="2400">
                <a:sym typeface="+mn-ea"/>
              </a:rPr>
              <a:t>接受更改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2.5 AD</a:t>
            </a:r>
            <a:r>
              <a:rPr lang="zh-CN" altLang="en-US">
                <a:sym typeface="+mn-ea"/>
              </a:rPr>
              <a:t>原理图的绘制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4880" cy="1112520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11.</a:t>
            </a:r>
            <a:r>
              <a:rPr lang="zh-CN" altLang="en-US" sz="2400"/>
              <a:t>检查无误后，点击设计</a:t>
            </a:r>
            <a:r>
              <a:rPr lang="en-US" altLang="zh-CN" sz="2400"/>
              <a:t>-</a:t>
            </a:r>
            <a:r>
              <a:rPr lang="zh-CN" altLang="en-US" sz="2400"/>
              <a:t>更新</a:t>
            </a:r>
            <a:r>
              <a:rPr lang="en-US" altLang="zh-CN" sz="2400"/>
              <a:t>PCB</a:t>
            </a:r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</p:txBody>
      </p:sp>
      <p:pic>
        <p:nvPicPr>
          <p:cNvPr id="5" name="图片 4" descr="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40349"/>
          </a:xfrm>
          <a:prstGeom prst="rect">
            <a:avLst/>
          </a:prstGeom>
        </p:spPr>
      </p:pic>
      <p:pic>
        <p:nvPicPr>
          <p:cNvPr id="6" name="图片 5" descr="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7510"/>
            <a:ext cx="5760000" cy="3240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598285" y="5065395"/>
            <a:ext cx="4755515" cy="11112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zh-CN" sz="2400">
                <a:sym typeface="+mn-ea"/>
              </a:rPr>
              <a:t>12.</a:t>
            </a:r>
            <a:r>
              <a:rPr lang="zh-CN" altLang="en-US" sz="2400">
                <a:sym typeface="+mn-ea"/>
              </a:rPr>
              <a:t>点击验证变更，可能会报错，取消勾选</a:t>
            </a:r>
            <a:r>
              <a:rPr lang="en-US" altLang="zh-CN" sz="2400">
                <a:sym typeface="+mn-ea"/>
              </a:rPr>
              <a:t>Add Rooms</a:t>
            </a:r>
            <a:r>
              <a:rPr lang="zh-CN" altLang="en-US" sz="2400">
                <a:sym typeface="+mn-ea"/>
              </a:rPr>
              <a:t>，直接点执行变更，如果还有错误再检查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2.5 AD</a:t>
            </a:r>
            <a:r>
              <a:rPr lang="zh-CN" altLang="en-US">
                <a:sym typeface="+mn-ea"/>
              </a:rPr>
              <a:t>原理图的绘制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4880" cy="1112520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1</a:t>
            </a:r>
            <a:r>
              <a:rPr lang="en-US" sz="2400"/>
              <a:t>3.</a:t>
            </a:r>
            <a:r>
              <a:rPr lang="zh-CN" altLang="en-US" sz="2400"/>
              <a:t>点击报告</a:t>
            </a:r>
            <a:r>
              <a:rPr lang="en-US" altLang="zh-CN" sz="2400"/>
              <a:t>-Bill of Materials</a:t>
            </a:r>
            <a:r>
              <a:rPr lang="zh-CN" altLang="en-US" sz="2400"/>
              <a:t>以导出</a:t>
            </a:r>
            <a:r>
              <a:rPr lang="en-US" altLang="zh-CN" sz="2400"/>
              <a:t>BOM</a:t>
            </a:r>
            <a:endParaRPr lang="en-US" altLang="zh-CN" sz="2400"/>
          </a:p>
        </p:txBody>
      </p:sp>
      <p:pic>
        <p:nvPicPr>
          <p:cNvPr id="7" name="图片 6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38681"/>
          </a:xfrm>
          <a:prstGeom prst="rect">
            <a:avLst/>
          </a:prstGeom>
        </p:spPr>
      </p:pic>
      <p:pic>
        <p:nvPicPr>
          <p:cNvPr id="8" name="图片 7" descr="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8145"/>
            <a:ext cx="5760000" cy="3248196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/>
        </p:nvSpPr>
        <p:spPr>
          <a:xfrm>
            <a:off x="6598920" y="5064125"/>
            <a:ext cx="4754880" cy="111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/>
              <a:t>1</a:t>
            </a:r>
            <a:r>
              <a:rPr lang="en-US" sz="2400"/>
              <a:t>4.</a:t>
            </a:r>
            <a:r>
              <a:rPr lang="zh-CN" altLang="en-US" sz="2400"/>
              <a:t>设置文件格式为</a:t>
            </a:r>
            <a:r>
              <a:rPr lang="en-US" altLang="zh-CN" sz="2400"/>
              <a:t>Excel</a:t>
            </a:r>
            <a:endParaRPr lang="en-US" altLang="zh-CN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原理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5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2.6 AD PCB</a:t>
            </a:r>
            <a:r>
              <a:rPr lang="zh-CN" altLang="en-US"/>
              <a:t>的</a:t>
            </a:r>
            <a:r>
              <a:rPr lang="zh-CN" altLang="en-US"/>
              <a:t>绘制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4880" cy="1115060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1.</a:t>
            </a:r>
            <a:r>
              <a:rPr lang="zh-CN" altLang="en-US" sz="2400"/>
              <a:t>类似原理图，设置好单位和栅格后，可以点击左下角设置图层颜色</a:t>
            </a:r>
            <a:endParaRPr lang="zh-CN" altLang="en-US" sz="2400">
              <a:sym typeface="+mn-ea"/>
            </a:endParaRPr>
          </a:p>
        </p:txBody>
      </p:sp>
      <p:pic>
        <p:nvPicPr>
          <p:cNvPr id="4" name="图片 3" descr="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40000"/>
          </a:xfrm>
          <a:prstGeom prst="rect">
            <a:avLst/>
          </a:prstGeom>
        </p:spPr>
      </p:pic>
      <p:pic>
        <p:nvPicPr>
          <p:cNvPr id="6" name="图片 5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40685"/>
            <a:ext cx="5760000" cy="323690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598285" y="5064760"/>
            <a:ext cx="4755515" cy="1111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sym typeface="+mn-ea"/>
              </a:rPr>
              <a:t>顶层</a:t>
            </a:r>
            <a:r>
              <a:rPr lang="en-US" altLang="zh-CN" sz="2400">
                <a:sym typeface="+mn-ea"/>
              </a:rPr>
              <a:t>#FF8E8E</a:t>
            </a:r>
            <a:r>
              <a:rPr lang="zh-CN" altLang="en-US" sz="2400">
                <a:sym typeface="+mn-ea"/>
              </a:rPr>
              <a:t>，</a:t>
            </a:r>
            <a:r>
              <a:rPr lang="zh-CN" altLang="en-US" sz="2400">
                <a:sym typeface="+mn-ea"/>
              </a:rPr>
              <a:t>顶层丝印</a:t>
            </a:r>
            <a:r>
              <a:rPr lang="en-US" altLang="zh-CN" sz="2400">
                <a:sym typeface="+mn-ea"/>
              </a:rPr>
              <a:t>#FFFFFF</a:t>
            </a:r>
            <a:r>
              <a:rPr lang="zh-CN" altLang="en-US" sz="2400">
                <a:sym typeface="+mn-ea"/>
              </a:rPr>
              <a:t>，</a:t>
            </a:r>
            <a:endParaRPr lang="zh-CN" altLang="en-US" sz="2400">
              <a:sym typeface="+mn-ea"/>
            </a:endParaRPr>
          </a:p>
          <a:p>
            <a:r>
              <a:rPr lang="zh-CN" altLang="en-US" sz="2400">
                <a:sym typeface="+mn-ea"/>
              </a:rPr>
              <a:t>底层</a:t>
            </a:r>
            <a:r>
              <a:rPr lang="en-US" altLang="zh-CN" sz="2400">
                <a:sym typeface="+mn-ea"/>
              </a:rPr>
              <a:t>#33CCFF</a:t>
            </a:r>
            <a:r>
              <a:rPr lang="zh-CN" altLang="en-US" sz="2400">
                <a:sym typeface="+mn-ea"/>
              </a:rPr>
              <a:t>，</a:t>
            </a:r>
            <a:r>
              <a:rPr lang="zh-CN" altLang="en-US" sz="2400">
                <a:sym typeface="+mn-ea"/>
              </a:rPr>
              <a:t>底层丝印</a:t>
            </a:r>
            <a:r>
              <a:rPr lang="en-US" altLang="zh-CN" sz="2400">
                <a:sym typeface="+mn-ea"/>
              </a:rPr>
              <a:t>#FF3300</a:t>
            </a:r>
            <a:endParaRPr lang="en-US" altLang="zh-CN"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2.6 AD PCB</a:t>
            </a:r>
            <a:r>
              <a:rPr lang="zh-CN" altLang="en-US">
                <a:sym typeface="+mn-ea"/>
              </a:rPr>
              <a:t>的绘制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4880" cy="4351655"/>
          </a:xfrm>
        </p:spPr>
        <p:txBody>
          <a:bodyPr/>
          <a:p>
            <a:pPr marL="0" indent="0">
              <a:buNone/>
            </a:pPr>
            <a:r>
              <a:rPr lang="en-US" altLang="zh-CN" sz="2400">
                <a:sym typeface="+mn-ea"/>
              </a:rPr>
              <a:t>2.</a:t>
            </a:r>
            <a:r>
              <a:rPr lang="zh-CN" altLang="en-US" sz="2400">
                <a:sym typeface="+mn-ea"/>
              </a:rPr>
              <a:t>点击</a:t>
            </a:r>
            <a:r>
              <a:rPr lang="en-US" altLang="zh-CN" sz="2400">
                <a:sym typeface="+mn-ea"/>
              </a:rPr>
              <a:t>Mechanical 1</a:t>
            </a:r>
            <a:r>
              <a:rPr lang="zh-CN" altLang="en-US" sz="2400">
                <a:sym typeface="+mn-ea"/>
              </a:rPr>
              <a:t>层，使用线条工具画板框，注意不是布线工具</a:t>
            </a:r>
            <a:endParaRPr lang="zh-CN" altLang="en-US" sz="2400">
              <a:sym typeface="+mn-ea"/>
            </a:endParaRPr>
          </a:p>
          <a:p>
            <a:endParaRPr lang="zh-CN" altLang="en-US" sz="2400"/>
          </a:p>
        </p:txBody>
      </p:sp>
      <p:pic>
        <p:nvPicPr>
          <p:cNvPr id="4" name="图片 3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2.6 AD PCB</a:t>
            </a:r>
            <a:r>
              <a:rPr lang="zh-CN" altLang="en-US">
                <a:sym typeface="+mn-ea"/>
              </a:rPr>
              <a:t>的绘制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6150" cy="111188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2400"/>
              <a:t>3.</a:t>
            </a:r>
            <a:r>
              <a:rPr lang="zh-CN" altLang="en-US" sz="2400"/>
              <a:t>选择一条板框，按下</a:t>
            </a:r>
            <a:r>
              <a:rPr lang="en-US" altLang="zh-CN" sz="2400"/>
              <a:t>tab</a:t>
            </a:r>
            <a:r>
              <a:rPr lang="zh-CN" altLang="en-US" sz="2400"/>
              <a:t>自动选择整个板框，点击设计</a:t>
            </a:r>
            <a:r>
              <a:rPr lang="en-US" altLang="zh-CN" sz="2400"/>
              <a:t>-</a:t>
            </a:r>
            <a:r>
              <a:rPr lang="zh-CN" altLang="en-US" sz="2400"/>
              <a:t>板子形状</a:t>
            </a:r>
            <a:r>
              <a:rPr lang="en-US" altLang="zh-CN" sz="2400"/>
              <a:t>-</a:t>
            </a:r>
            <a:r>
              <a:rPr lang="zh-CN" altLang="en-US" sz="2400"/>
              <a:t>按照选择对象定义</a:t>
            </a:r>
            <a:endParaRPr lang="zh-CN" altLang="en-US" sz="2400"/>
          </a:p>
        </p:txBody>
      </p:sp>
      <p:pic>
        <p:nvPicPr>
          <p:cNvPr id="4" name="图片 3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39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7510"/>
            <a:ext cx="5760000" cy="3240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98920" y="5064125"/>
            <a:ext cx="4755515" cy="11131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buNone/>
            </a:pPr>
            <a:r>
              <a:rPr lang="en-US" altLang="zh-CN" sz="2400">
                <a:sym typeface="+mn-ea"/>
              </a:rPr>
              <a:t>4.</a:t>
            </a:r>
            <a:r>
              <a:rPr lang="zh-CN" altLang="en-US" sz="2400">
                <a:sym typeface="+mn-ea"/>
              </a:rPr>
              <a:t>此时板框内部会出现黑色栅格，切换回</a:t>
            </a:r>
            <a:r>
              <a:rPr lang="en-US" altLang="zh-CN" sz="2400">
                <a:sym typeface="+mn-ea"/>
              </a:rPr>
              <a:t>Top Layer</a:t>
            </a:r>
            <a:r>
              <a:rPr lang="zh-CN" altLang="en-US" sz="2400">
                <a:sym typeface="+mn-ea"/>
              </a:rPr>
              <a:t>，使用布线工具布线即可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2.6 AD PCB</a:t>
            </a:r>
            <a:r>
              <a:rPr lang="zh-CN" altLang="en-US">
                <a:sym typeface="+mn-ea"/>
              </a:rPr>
              <a:t>的绘制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4880" cy="111252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2400"/>
              <a:t>5.</a:t>
            </a:r>
            <a:r>
              <a:rPr lang="zh-CN" altLang="en-US" sz="2400"/>
              <a:t>对于部分元件的</a:t>
            </a:r>
            <a:r>
              <a:rPr lang="en-US" altLang="zh-CN" sz="2400"/>
              <a:t>PCB</a:t>
            </a:r>
            <a:r>
              <a:rPr lang="zh-CN" altLang="en-US" sz="2400"/>
              <a:t>设计，可前往</a:t>
            </a:r>
            <a:r>
              <a:rPr lang="en-US" altLang="zh-CN" sz="2400"/>
              <a:t>alldatasheet.com</a:t>
            </a:r>
            <a:r>
              <a:rPr lang="zh-CN" altLang="en-US" sz="2400"/>
              <a:t>搜索数据手册，里面有参考</a:t>
            </a:r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4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7510"/>
            <a:ext cx="5760000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2.6 AD PCB</a:t>
            </a:r>
            <a:r>
              <a:rPr lang="zh-CN" altLang="en-US">
                <a:sym typeface="+mn-ea"/>
              </a:rPr>
              <a:t>的绘制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8066405" cy="435229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2400"/>
              <a:t>6.</a:t>
            </a:r>
            <a:r>
              <a:rPr lang="zh-CN" altLang="en-US" sz="2400"/>
              <a:t>依次点击左下角的</a:t>
            </a:r>
            <a:r>
              <a:rPr lang="en-US" altLang="zh-CN" sz="2400"/>
              <a:t>PCB-</a:t>
            </a:r>
            <a:r>
              <a:rPr lang="zh-CN" altLang="en-US" sz="2400"/>
              <a:t>左上方的</a:t>
            </a:r>
            <a:r>
              <a:rPr lang="en-US" altLang="zh-CN" sz="2400"/>
              <a:t>All Nets</a:t>
            </a:r>
            <a:r>
              <a:rPr lang="zh-CN" altLang="en-US" sz="2400"/>
              <a:t>，观察最后一栏的数据（未布线的长度），如果全为</a:t>
            </a:r>
            <a:r>
              <a:rPr lang="en-US" altLang="zh-CN" sz="2400"/>
              <a:t>0</a:t>
            </a:r>
            <a:r>
              <a:rPr lang="zh-CN" altLang="en-US" sz="2400"/>
              <a:t>则布线完成，注意可能有的网络会因为键盘误触而被隐藏，如果前面的方框颜色不一样，需要</a:t>
            </a:r>
            <a:r>
              <a:rPr lang="zh-CN" altLang="en-US" sz="2400"/>
              <a:t>注意一下</a:t>
            </a:r>
            <a:endParaRPr lang="zh-CN" altLang="en-US" sz="2400"/>
          </a:p>
        </p:txBody>
      </p:sp>
      <p:pic>
        <p:nvPicPr>
          <p:cNvPr id="6" name="图片 5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4605" y="1825625"/>
            <a:ext cx="2449448" cy="4352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2.6 AD PCB</a:t>
            </a:r>
            <a:r>
              <a:rPr lang="zh-CN" altLang="en-US">
                <a:sym typeface="+mn-ea"/>
              </a:rPr>
              <a:t>的绘制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6150" cy="4351655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7.</a:t>
            </a:r>
            <a:r>
              <a:rPr lang="zh-CN" altLang="en-US" sz="2400"/>
              <a:t>绘制完成后，点击保存副本，类型为</a:t>
            </a:r>
            <a:r>
              <a:rPr lang="en-US" altLang="zh-CN" sz="2400"/>
              <a:t>ACSII</a:t>
            </a:r>
            <a:r>
              <a:rPr lang="zh-CN" altLang="en-US" sz="2400"/>
              <a:t>文件，切记保存在另一个</a:t>
            </a:r>
            <a:r>
              <a:rPr lang="zh-CN" altLang="en-US" sz="2400"/>
              <a:t>地址</a:t>
            </a: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1571" b="1571"/>
          <a:stretch>
            <a:fillRect/>
          </a:stretch>
        </p:blipFill>
        <p:spPr>
          <a:xfrm>
            <a:off x="5593715" y="1825676"/>
            <a:ext cx="5760000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2.6 AD PCB</a:t>
            </a:r>
            <a:r>
              <a:rPr lang="zh-CN" altLang="en-US">
                <a:sym typeface="+mn-ea"/>
              </a:rPr>
              <a:t>的绘制</a:t>
            </a:r>
            <a:endParaRPr lang="zh-CN" altLang="en-US"/>
          </a:p>
        </p:txBody>
      </p:sp>
      <p:pic>
        <p:nvPicPr>
          <p:cNvPr id="4" name="图片 3" descr="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41809"/>
          </a:xfrm>
          <a:prstGeom prst="rect">
            <a:avLst/>
          </a:prstGeom>
        </p:spPr>
      </p:pic>
      <p:pic>
        <p:nvPicPr>
          <p:cNvPr id="5" name="图片 4" descr="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2430"/>
            <a:ext cx="5760000" cy="3244737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825625"/>
            <a:ext cx="4754880" cy="1115060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8.</a:t>
            </a:r>
            <a:r>
              <a:rPr lang="zh-CN" altLang="en-US" sz="2400"/>
              <a:t>点击文件</a:t>
            </a:r>
            <a:r>
              <a:rPr lang="en-US" altLang="zh-CN" sz="2400"/>
              <a:t>-</a:t>
            </a:r>
            <a:r>
              <a:rPr lang="zh-CN" altLang="en-US" sz="2400"/>
              <a:t>装配输出</a:t>
            </a:r>
            <a:r>
              <a:rPr lang="en-US" altLang="zh-CN" sz="2400"/>
              <a:t>-</a:t>
            </a:r>
            <a:r>
              <a:rPr lang="zh-CN" altLang="en-US" sz="2400"/>
              <a:t>生成</a:t>
            </a:r>
            <a:r>
              <a:rPr lang="zh-CN" altLang="en-US" sz="2400"/>
              <a:t>坐标文件</a:t>
            </a:r>
            <a:endParaRPr lang="zh-CN" altLang="en-US" sz="2400"/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6598920" y="5062220"/>
            <a:ext cx="4754880" cy="1115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/>
              <a:t>按照图示进行勾选或取消</a:t>
            </a:r>
            <a:r>
              <a:rPr lang="zh-CN" altLang="en-US" sz="2400"/>
              <a:t>勾选</a:t>
            </a:r>
            <a:endParaRPr lang="zh-CN" altLang="en-US"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2.6 AD PCB</a:t>
            </a:r>
            <a:r>
              <a:rPr lang="zh-CN" altLang="en-US">
                <a:sym typeface="+mn-ea"/>
              </a:rPr>
              <a:t>的绘制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6150" cy="4351655"/>
          </a:xfrm>
        </p:spPr>
        <p:txBody>
          <a:bodyPr/>
          <a:p>
            <a:pPr marL="0" indent="0">
              <a:buNone/>
            </a:pPr>
            <a:r>
              <a:rPr lang="en-US" sz="2400"/>
              <a:t>9.</a:t>
            </a:r>
            <a:r>
              <a:rPr lang="zh-CN" altLang="en-US" sz="2400"/>
              <a:t>输出的文件</a:t>
            </a:r>
            <a:r>
              <a:rPr lang="zh-CN" altLang="en-US" sz="2400"/>
              <a:t>在这里</a:t>
            </a:r>
            <a:endParaRPr lang="zh-CN" altLang="en-US" sz="2400"/>
          </a:p>
        </p:txBody>
      </p:sp>
      <p:pic>
        <p:nvPicPr>
          <p:cNvPr id="4" name="图片 3" descr="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4196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 </a:t>
            </a:r>
            <a:r>
              <a:rPr lang="zh-CN" altLang="en-US"/>
              <a:t>嘉立创下单助手的</a:t>
            </a:r>
            <a:r>
              <a:rPr lang="zh-CN" altLang="en-US"/>
              <a:t>使用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5515" cy="1111250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1.</a:t>
            </a:r>
            <a:r>
              <a:rPr lang="zh-CN" altLang="en-US" sz="2400"/>
              <a:t>点击电子产业</a:t>
            </a:r>
            <a:r>
              <a:rPr lang="en-US" altLang="zh-CN" sz="2400"/>
              <a:t>-</a:t>
            </a:r>
            <a:r>
              <a:rPr lang="zh-CN" altLang="en-US" sz="2400"/>
              <a:t>计价</a:t>
            </a:r>
            <a:r>
              <a:rPr lang="en-US" altLang="zh-CN" sz="2400"/>
              <a:t>/</a:t>
            </a:r>
            <a:r>
              <a:rPr lang="zh-CN" altLang="en-US" sz="2400"/>
              <a:t>下单，将导出的</a:t>
            </a:r>
            <a:r>
              <a:rPr lang="en-US" altLang="zh-CN" sz="2400"/>
              <a:t>PcbDoc</a:t>
            </a:r>
            <a:r>
              <a:rPr lang="zh-CN" altLang="en-US" sz="2400"/>
              <a:t>压缩成</a:t>
            </a:r>
            <a:r>
              <a:rPr lang="en-US" altLang="zh-CN" sz="2400"/>
              <a:t>rar</a:t>
            </a:r>
            <a:r>
              <a:rPr lang="zh-CN" altLang="en-US" sz="2400"/>
              <a:t>，</a:t>
            </a:r>
            <a:r>
              <a:rPr lang="zh-CN" altLang="en-US" sz="2400"/>
              <a:t>上传</a:t>
            </a:r>
            <a:endParaRPr lang="zh-CN" altLang="en-US" sz="2400"/>
          </a:p>
        </p:txBody>
      </p:sp>
      <p:pic>
        <p:nvPicPr>
          <p:cNvPr id="5" name="图片 4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936875"/>
            <a:ext cx="5760000" cy="3240506"/>
          </a:xfrm>
          <a:prstGeom prst="rect">
            <a:avLst/>
          </a:prstGeom>
        </p:spPr>
      </p:pic>
      <p:pic>
        <p:nvPicPr>
          <p:cNvPr id="4" name="图片 3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715" y="1825625"/>
            <a:ext cx="5760000" cy="32425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98285" y="5067935"/>
            <a:ext cx="4755515" cy="1108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2.</a:t>
            </a:r>
            <a:r>
              <a:rPr lang="zh-CN" altLang="en-US" sz="2400"/>
              <a:t>板子数量选择</a:t>
            </a:r>
            <a:r>
              <a:rPr lang="en-US" altLang="zh-CN" sz="2400"/>
              <a:t>5</a:t>
            </a:r>
            <a:r>
              <a:rPr lang="zh-CN" altLang="en-US" sz="2400"/>
              <a:t>，立即</a:t>
            </a:r>
            <a:r>
              <a:rPr lang="zh-CN" altLang="en-US" sz="2400"/>
              <a:t>下单</a:t>
            </a:r>
            <a:endParaRPr lang="zh-CN" altLang="en-US"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3 </a:t>
            </a:r>
            <a:r>
              <a:rPr lang="zh-CN" altLang="en-US">
                <a:sym typeface="+mn-ea"/>
              </a:rPr>
              <a:t>嘉立创下单助手的使用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6150" cy="43516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2000">
                <a:sym typeface="+mn-ea"/>
              </a:rPr>
              <a:t>3.PCB</a:t>
            </a:r>
            <a:r>
              <a:rPr lang="zh-CN" altLang="en-US" sz="2000">
                <a:sym typeface="+mn-ea"/>
              </a:rPr>
              <a:t>参数选择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板子类型：</a:t>
            </a:r>
            <a:r>
              <a:rPr lang="en-US" altLang="zh-CN" sz="2000">
                <a:sym typeface="+mn-ea"/>
              </a:rPr>
              <a:t>FR-4</a:t>
            </a:r>
            <a:endParaRPr lang="en-US" altLang="zh-CN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确认生产稿：课程的板子最好还是确认一下，比较贵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出货方式：单板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成品板厚：</a:t>
            </a:r>
            <a:r>
              <a:rPr lang="en-US" altLang="zh-CN" sz="2000">
                <a:sym typeface="+mn-ea"/>
              </a:rPr>
              <a:t>0.8-1.6</a:t>
            </a:r>
            <a:r>
              <a:rPr lang="zh-CN" altLang="en-US" sz="2000">
                <a:sym typeface="+mn-ea"/>
              </a:rPr>
              <a:t>（包含）是不额外收费的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品质赔付服务：按标准合同常规处理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是否需要磨边：不需要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交期：</a:t>
            </a:r>
            <a:r>
              <a:rPr lang="en-US" altLang="zh-CN" sz="2000">
                <a:sym typeface="+mn-ea"/>
              </a:rPr>
              <a:t>24</a:t>
            </a:r>
            <a:r>
              <a:rPr lang="zh-CN" altLang="en-US" sz="2000">
                <a:sym typeface="+mn-ea"/>
              </a:rPr>
              <a:t>小时免费加急（</a:t>
            </a:r>
            <a:r>
              <a:rPr lang="en-US" altLang="zh-CN" sz="2000">
                <a:sym typeface="+mn-ea"/>
              </a:rPr>
              <a:t>SMT</a:t>
            </a:r>
            <a:r>
              <a:rPr lang="zh-CN" altLang="en-US" sz="2000">
                <a:sym typeface="+mn-ea"/>
              </a:rPr>
              <a:t>专享）</a:t>
            </a:r>
            <a:endParaRPr lang="zh-CN" altLang="en-US" sz="2000">
              <a:sym typeface="+mn-ea"/>
            </a:endParaRPr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完成后点击提交</a:t>
            </a:r>
            <a:r>
              <a:rPr lang="en-US" altLang="zh-CN" sz="2000">
                <a:sym typeface="+mn-ea"/>
              </a:rPr>
              <a:t>PCB</a:t>
            </a:r>
            <a:r>
              <a:rPr lang="zh-CN" altLang="en-US" sz="2000">
                <a:sym typeface="+mn-ea"/>
              </a:rPr>
              <a:t>订单，去下</a:t>
            </a:r>
            <a:r>
              <a:rPr lang="en-US" altLang="zh-CN" sz="2000">
                <a:sym typeface="+mn-ea"/>
              </a:rPr>
              <a:t>SMT</a:t>
            </a:r>
            <a:endParaRPr lang="en-US" altLang="zh-CN" sz="20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3 </a:t>
            </a:r>
            <a:r>
              <a:rPr lang="zh-CN" altLang="en-US">
                <a:sym typeface="+mn-ea"/>
              </a:rPr>
              <a:t>嘉立创下单助手的使用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56150" cy="111379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2400">
                <a:sym typeface="+mn-ea"/>
              </a:rPr>
              <a:t>4.SMT</a:t>
            </a:r>
            <a:r>
              <a:rPr lang="zh-CN" altLang="en-US" sz="2400">
                <a:sym typeface="+mn-ea"/>
              </a:rPr>
              <a:t>参数选择：</a:t>
            </a:r>
            <a:r>
              <a:rPr lang="zh-CN" altLang="en-US" sz="2400"/>
              <a:t>上传刚才的</a:t>
            </a:r>
            <a:r>
              <a:rPr lang="en-US" altLang="zh-CN" sz="2400"/>
              <a:t>BOM</a:t>
            </a:r>
            <a:r>
              <a:rPr lang="zh-CN" altLang="en-US" sz="2400"/>
              <a:t>和坐标</a:t>
            </a:r>
            <a:endParaRPr lang="zh-CN" altLang="en-US" sz="2400">
              <a:sym typeface="+mn-ea"/>
            </a:endParaRPr>
          </a:p>
        </p:txBody>
      </p:sp>
      <p:pic>
        <p:nvPicPr>
          <p:cNvPr id="4" name="图片 3" descr="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715" y="1825625"/>
            <a:ext cx="5760000" cy="3235746"/>
          </a:xfrm>
          <a:prstGeom prst="rect">
            <a:avLst/>
          </a:prstGeom>
        </p:spPr>
      </p:pic>
      <p:pic>
        <p:nvPicPr>
          <p:cNvPr id="5" name="图片 4" descr="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40050"/>
            <a:ext cx="5760000" cy="3237120"/>
          </a:xfrm>
          <a:prstGeom prst="rect">
            <a:avLst/>
          </a:prstGeom>
        </p:spPr>
      </p:pic>
      <p:sp>
        <p:nvSpPr>
          <p:cNvPr id="7" name="内容占位符 2"/>
          <p:cNvSpPr>
            <a:spLocks noGrp="1"/>
          </p:cNvSpPr>
          <p:nvPr/>
        </p:nvSpPr>
        <p:spPr>
          <a:xfrm>
            <a:off x="6598285" y="5061585"/>
            <a:ext cx="4756150" cy="1113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>
                <a:sym typeface="+mn-ea"/>
              </a:rPr>
              <a:t>其他参数按照图示选择，</a:t>
            </a:r>
            <a:r>
              <a:rPr lang="zh-CN" altLang="en-US" sz="2400">
                <a:sym typeface="+mn-ea"/>
              </a:rPr>
              <a:t>课程的板子最好还是确认一下</a:t>
            </a:r>
            <a:r>
              <a:rPr lang="en-US" altLang="zh-CN" sz="2400">
                <a:sym typeface="+mn-ea"/>
              </a:rPr>
              <a:t>DFM</a:t>
            </a:r>
            <a:r>
              <a:rPr lang="zh-CN" altLang="en-US" sz="2400">
                <a:sym typeface="+mn-ea"/>
              </a:rPr>
              <a:t>，比较贵</a:t>
            </a:r>
            <a:endParaRPr lang="zh-CN" altLang="en-US" sz="2400"/>
          </a:p>
          <a:p>
            <a:pPr marL="0" indent="0">
              <a:buNone/>
            </a:pP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3 </a:t>
            </a:r>
            <a:r>
              <a:rPr lang="zh-CN" altLang="en-US">
                <a:sym typeface="+mn-ea"/>
              </a:rPr>
              <a:t>嘉立创下单助手的使用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781300" cy="4351655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5.</a:t>
            </a:r>
            <a:r>
              <a:rPr lang="zh-CN" altLang="en-US" sz="2400"/>
              <a:t>逐一核对元件，包括型号、数值、方向，尽量选用基础库的元件，每一个扩展库的元件会多收十几块钱，直插元件、接线端子建议自己焊接，核对完了把前面的勾打</a:t>
            </a:r>
            <a:r>
              <a:rPr lang="zh-CN" altLang="en-US" sz="2400"/>
              <a:t>上</a:t>
            </a:r>
            <a:endParaRPr lang="zh-CN" altLang="en-US" sz="2400"/>
          </a:p>
        </p:txBody>
      </p:sp>
      <p:pic>
        <p:nvPicPr>
          <p:cNvPr id="4" name="图片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0" y="1825625"/>
            <a:ext cx="7734300" cy="435038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3 </a:t>
            </a:r>
            <a:r>
              <a:rPr lang="zh-CN" altLang="en-US">
                <a:sym typeface="+mn-ea"/>
              </a:rPr>
              <a:t>嘉立创下单助手的使用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781300" cy="4351655"/>
          </a:xfrm>
        </p:spPr>
        <p:txBody>
          <a:bodyPr/>
          <a:p>
            <a:pPr marL="0" indent="0">
              <a:buNone/>
            </a:pPr>
            <a:r>
              <a:rPr lang="en-US" sz="2400"/>
              <a:t>6.</a:t>
            </a:r>
            <a:r>
              <a:rPr lang="zh-CN" altLang="en-US" sz="2400"/>
              <a:t>有些值比较奇怪的元件，只有扩展库才有，视情况可以选取近似值，例如</a:t>
            </a:r>
            <a:r>
              <a:rPr lang="en-US" altLang="zh-CN" sz="2400"/>
              <a:t>30k</a:t>
            </a:r>
            <a:r>
              <a:rPr lang="zh-CN" altLang="en-US" sz="2400"/>
              <a:t>，这种电阻在基础库</a:t>
            </a:r>
            <a:r>
              <a:rPr lang="zh-CN" altLang="en-US" sz="2400"/>
              <a:t>也有</a:t>
            </a:r>
            <a:endParaRPr lang="zh-CN" altLang="en-US" sz="2400"/>
          </a:p>
        </p:txBody>
      </p:sp>
      <p:pic>
        <p:nvPicPr>
          <p:cNvPr id="5" name="图片 4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0" y="1825625"/>
            <a:ext cx="7734300" cy="435229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3 </a:t>
            </a:r>
            <a:r>
              <a:rPr lang="zh-CN" altLang="en-US">
                <a:sym typeface="+mn-ea"/>
              </a:rPr>
              <a:t>嘉立创下单助手的使用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781300" cy="4351655"/>
          </a:xfrm>
        </p:spPr>
        <p:txBody>
          <a:bodyPr/>
          <a:p>
            <a:pPr marL="0" indent="0">
              <a:buNone/>
            </a:pPr>
            <a:r>
              <a:rPr lang="en-US" sz="2400"/>
              <a:t>7.</a:t>
            </a:r>
            <a:r>
              <a:rPr lang="zh-CN" altLang="en-US" sz="2400"/>
              <a:t>二极管和芯片一定记得检查极性！现在删除和替换一些元件后，便宜了</a:t>
            </a:r>
            <a:r>
              <a:rPr lang="en-US" altLang="zh-CN" sz="2400"/>
              <a:t>20</a:t>
            </a:r>
            <a:r>
              <a:rPr lang="zh-CN" altLang="en-US" sz="2400"/>
              <a:t>元左右，然后就可以填写发货信息生产</a:t>
            </a:r>
            <a:r>
              <a:rPr lang="zh-CN" altLang="en-US" sz="2400"/>
              <a:t>了</a:t>
            </a:r>
            <a:endParaRPr lang="zh-CN" altLang="en-US" sz="2400"/>
          </a:p>
        </p:txBody>
      </p:sp>
      <p:pic>
        <p:nvPicPr>
          <p:cNvPr id="6" name="图片 5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0" y="1827530"/>
            <a:ext cx="7733665" cy="43497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谢谢大家</a:t>
            </a:r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sym typeface="+mn-ea"/>
              </a:rPr>
              <a:t>有任何问题可以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  <a:sym typeface="+mn-ea"/>
              </a:rPr>
              <a:t>QQ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  <a:sym typeface="+mn-ea"/>
              </a:rPr>
              <a:t>私聊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2503</Words>
  <Application>WPS 演示</Application>
  <PresentationFormat>宽屏</PresentationFormat>
  <Paragraphs>211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4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AD快速入门与嘉立创下单</vt:lpstr>
      <vt:lpstr>1 引言与概述</vt:lpstr>
      <vt:lpstr>2.1 AD工程的建立</vt:lpstr>
      <vt:lpstr>2.1 AD工程的建立</vt:lpstr>
      <vt:lpstr>2.1 AD工程的建立</vt:lpstr>
      <vt:lpstr>2.2 AD封装库的修改</vt:lpstr>
      <vt:lpstr>2.2 AD封装库的修改</vt:lpstr>
      <vt:lpstr>2.2 AD封装库的修改</vt:lpstr>
      <vt:lpstr>2.2 AD封装库的修改</vt:lpstr>
      <vt:lpstr>2.3 立创EDA封装导入AD</vt:lpstr>
      <vt:lpstr>2.3 立创EDA封装导入AD</vt:lpstr>
      <vt:lpstr>2.3 立创EDA封装导入AD</vt:lpstr>
      <vt:lpstr>2.4 AD元件库的修改</vt:lpstr>
      <vt:lpstr>2.5 AD原理图的绘制</vt:lpstr>
      <vt:lpstr>2.5 AD原理图的绘制</vt:lpstr>
      <vt:lpstr>2.5 AD原理图的绘制</vt:lpstr>
      <vt:lpstr>2.5 AD原理图的绘制</vt:lpstr>
      <vt:lpstr>2.5 AD原理图的绘制</vt:lpstr>
      <vt:lpstr>2.5 AD原理图的绘制</vt:lpstr>
      <vt:lpstr>2.5 AD原理图的绘制</vt:lpstr>
      <vt:lpstr>2.5 AD原理图的绘制</vt:lpstr>
      <vt:lpstr>PowerPoint 演示文稿</vt:lpstr>
      <vt:lpstr>2.6 AD PCB的绘制</vt:lpstr>
      <vt:lpstr>2.6 AD PCB的绘制</vt:lpstr>
      <vt:lpstr>2.6 AD PCB的绘制</vt:lpstr>
      <vt:lpstr>2.6 AD PCB的绘制</vt:lpstr>
      <vt:lpstr>2.6 AD PCB的绘制</vt:lpstr>
      <vt:lpstr>2.6 AD PCB的绘制</vt:lpstr>
      <vt:lpstr>2.6 AD PCB的绘制</vt:lpstr>
      <vt:lpstr>2.6 AD PCB的绘制</vt:lpstr>
      <vt:lpstr>3 嘉立创下单助手的使用</vt:lpstr>
      <vt:lpstr>3 嘉立创下单助手的使用</vt:lpstr>
      <vt:lpstr>3 嘉立创下单助手的使用</vt:lpstr>
      <vt:lpstr>3 嘉立创下单助手的使用</vt:lpstr>
      <vt:lpstr>3 嘉立创下单助手的使用</vt:lpstr>
      <vt:lpstr>3 嘉立创下单助手的使用</vt:lpstr>
      <vt:lpstr>谢谢大家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高敏峰</cp:lastModifiedBy>
  <cp:revision>143</cp:revision>
  <dcterms:created xsi:type="dcterms:W3CDTF">2023-08-09T12:44:00Z</dcterms:created>
  <dcterms:modified xsi:type="dcterms:W3CDTF">2025-02-23T09:31:30Z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2052-12.1.0.20305</vt:lpwstr>
  </property>
</Properties>
</file>